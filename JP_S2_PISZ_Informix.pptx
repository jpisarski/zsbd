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IdLst>
    <p:sldId id="256" r:id="rId2"/>
    <p:sldId id="265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1A1101-5E8C-C0FB-CAE0-4044032D0562}" v="563" dt="2025-12-08T03:46:46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29BB374-91F8-49A0-8E6B-939C9B2A23F3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2C6FCFC-F16A-408B-9E01-BDE64FA5EE3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53175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B374-91F8-49A0-8E6B-939C9B2A23F3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FCFC-F16A-408B-9E01-BDE64FA5EE3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20973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B374-91F8-49A0-8E6B-939C9B2A23F3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FCFC-F16A-408B-9E01-BDE64FA5EE3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39377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B374-91F8-49A0-8E6B-939C9B2A23F3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FCFC-F16A-408B-9E01-BDE64FA5EE3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82102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B374-91F8-49A0-8E6B-939C9B2A23F3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FCFC-F16A-408B-9E01-BDE64FA5EE3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25719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B374-91F8-49A0-8E6B-939C9B2A23F3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FCFC-F16A-408B-9E01-BDE64FA5EE3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2363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B374-91F8-49A0-8E6B-939C9B2A23F3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FCFC-F16A-408B-9E01-BDE64FA5EE3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31167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B374-91F8-49A0-8E6B-939C9B2A23F3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FCFC-F16A-408B-9E01-BDE64FA5EE3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1113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B374-91F8-49A0-8E6B-939C9B2A23F3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FCFC-F16A-408B-9E01-BDE64FA5EE3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69303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B374-91F8-49A0-8E6B-939C9B2A23F3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FCFC-F16A-408B-9E01-BDE64FA5EE3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991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B374-91F8-49A0-8E6B-939C9B2A23F3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FCFC-F16A-408B-9E01-BDE64FA5EE3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924571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B374-91F8-49A0-8E6B-939C9B2A23F3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FCFC-F16A-408B-9E01-BDE64FA5EE3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41144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B374-91F8-49A0-8E6B-939C9B2A23F3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FCFC-F16A-408B-9E01-BDE64FA5EE3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79365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B374-91F8-49A0-8E6B-939C9B2A23F3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FCFC-F16A-408B-9E01-BDE64FA5EE3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52346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B374-91F8-49A0-8E6B-939C9B2A23F3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FCFC-F16A-408B-9E01-BDE64FA5EE3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02150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229BB374-91F8-49A0-8E6B-939C9B2A23F3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FCFC-F16A-408B-9E01-BDE64FA5EE3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92445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229BB374-91F8-49A0-8E6B-939C9B2A23F3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FCFC-F16A-408B-9E01-BDE64FA5EE3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3119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29BB374-91F8-49A0-8E6B-939C9B2A23F3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pl-PL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2C6FCFC-F16A-408B-9E01-BDE64FA5EE3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99884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503390" y="476342"/>
            <a:ext cx="11177918" cy="588025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l-PL" sz="6600" b="1" err="1"/>
              <a:t>Informix</a:t>
            </a:r>
            <a:endParaRPr lang="pl-PL" sz="6600" b="1"/>
          </a:p>
        </p:txBody>
      </p:sp>
    </p:spTree>
    <p:extLst>
      <p:ext uri="{BB962C8B-B14F-4D97-AF65-F5344CB8AC3E}">
        <p14:creationId xmlns:p14="http://schemas.microsoft.com/office/powerpoint/2010/main" val="2925588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>
                <a:ea typeface="+mj-lt"/>
                <a:cs typeface="+mj-lt"/>
              </a:rPr>
              <a:t>Definicja</a:t>
            </a:r>
            <a:r>
              <a:rPr lang="pl-PL" dirty="0">
                <a:ea typeface="+mj-lt"/>
                <a:cs typeface="+mj-lt"/>
              </a:rPr>
              <a:t> </a:t>
            </a:r>
            <a:r>
              <a:rPr lang="pl-PL" b="1" dirty="0" err="1">
                <a:ea typeface="+mj-lt"/>
                <a:cs typeface="+mj-lt"/>
              </a:rPr>
              <a:t>Informixa</a:t>
            </a:r>
            <a:endParaRPr lang="pl-PL" b="1" dirty="0" err="1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71897" y="2603500"/>
            <a:ext cx="8207433" cy="3416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 sz="2000" b="1" dirty="0" err="1">
                <a:solidFill>
                  <a:srgbClr val="3A4F66"/>
                </a:solidFill>
                <a:latin typeface="Century Gothic"/>
                <a:ea typeface="+mn-lt"/>
                <a:cs typeface="+mn-lt"/>
              </a:rPr>
              <a:t>Informix</a:t>
            </a:r>
            <a:r>
              <a:rPr lang="pl-PL" sz="2000" b="1" dirty="0">
                <a:solidFill>
                  <a:srgbClr val="3A4F66"/>
                </a:solidFill>
                <a:latin typeface="Century Gothic"/>
                <a:ea typeface="+mn-lt"/>
                <a:cs typeface="+mn-lt"/>
              </a:rPr>
              <a:t> </a:t>
            </a:r>
            <a:r>
              <a:rPr lang="pl-PL" sz="2000" dirty="0">
                <a:solidFill>
                  <a:srgbClr val="3A4F66"/>
                </a:solidFill>
                <a:latin typeface="Century Gothic"/>
                <a:ea typeface="+mn-lt"/>
                <a:cs typeface="+mn-lt"/>
              </a:rPr>
              <a:t>to zaawansowany system zarządzania relacyjnymi bazami danych (RDBMS) opracowany pierwotnie przez </a:t>
            </a:r>
            <a:r>
              <a:rPr lang="pl-PL" sz="2000" b="1" dirty="0" err="1">
                <a:solidFill>
                  <a:srgbClr val="3A4F66"/>
                </a:solidFill>
                <a:latin typeface="Century Gothic"/>
                <a:ea typeface="+mn-lt"/>
                <a:cs typeface="+mn-lt"/>
              </a:rPr>
              <a:t>Informix</a:t>
            </a:r>
            <a:r>
              <a:rPr lang="pl-PL" sz="2000" b="1" dirty="0">
                <a:solidFill>
                  <a:srgbClr val="3A4F66"/>
                </a:solidFill>
                <a:latin typeface="Century Gothic"/>
                <a:ea typeface="+mn-lt"/>
                <a:cs typeface="+mn-lt"/>
              </a:rPr>
              <a:t> Software</a:t>
            </a:r>
            <a:r>
              <a:rPr lang="pl-PL" sz="2000" dirty="0">
                <a:solidFill>
                  <a:srgbClr val="3A4F66"/>
                </a:solidFill>
                <a:latin typeface="Century Gothic"/>
                <a:ea typeface="+mn-lt"/>
                <a:cs typeface="+mn-lt"/>
              </a:rPr>
              <a:t>, a obecnie będący własnością i rozwijany przez </a:t>
            </a:r>
            <a:r>
              <a:rPr lang="pl-PL" sz="2000" b="1" dirty="0">
                <a:solidFill>
                  <a:srgbClr val="3A4F66"/>
                </a:solidFill>
                <a:latin typeface="Century Gothic"/>
                <a:ea typeface="+mn-lt"/>
                <a:cs typeface="+mn-lt"/>
              </a:rPr>
              <a:t>IBM</a:t>
            </a:r>
            <a:r>
              <a:rPr lang="pl-PL" sz="2000" dirty="0">
                <a:solidFill>
                  <a:srgbClr val="3A4F66"/>
                </a:solidFill>
                <a:latin typeface="Century Gothic"/>
                <a:ea typeface="+mn-lt"/>
                <a:cs typeface="+mn-lt"/>
              </a:rPr>
              <a:t>. </a:t>
            </a:r>
            <a:endParaRPr lang="pl-PL" sz="2000">
              <a:solidFill>
                <a:srgbClr val="404040"/>
              </a:solidFill>
              <a:latin typeface="Century Gothic"/>
              <a:ea typeface="+mn-lt"/>
              <a:cs typeface="+mn-lt"/>
            </a:endParaRPr>
          </a:p>
          <a:p>
            <a:pPr marL="0" indent="0">
              <a:buNone/>
            </a:pPr>
            <a:r>
              <a:rPr lang="pl-PL" sz="2000" dirty="0">
                <a:solidFill>
                  <a:srgbClr val="3A4F66"/>
                </a:solidFill>
                <a:latin typeface="Century Gothic"/>
                <a:ea typeface="+mn-lt"/>
                <a:cs typeface="+mn-lt"/>
              </a:rPr>
              <a:t>Jest to potężne narzędzie do przetwarzania i analizy danych, cenione za swoją niezawodność, wydajność i skalowalność. </a:t>
            </a:r>
            <a:endParaRPr lang="pl-PL" sz="2000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46730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b="1" dirty="0">
                <a:ea typeface="+mj-lt"/>
                <a:cs typeface="+mj-lt"/>
              </a:rPr>
              <a:t>Historia </a:t>
            </a:r>
            <a:r>
              <a:rPr lang="pl-PL" b="1" err="1">
                <a:ea typeface="+mj-lt"/>
                <a:cs typeface="+mj-lt"/>
              </a:rPr>
              <a:t>Informixa</a:t>
            </a:r>
            <a:endParaRPr lang="pl-PL" b="1" err="1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l-PL" sz="2000" dirty="0">
                <a:ea typeface="+mn-lt"/>
                <a:cs typeface="+mn-lt"/>
              </a:rPr>
              <a:t>W</a:t>
            </a:r>
            <a:r>
              <a:rPr lang="pl-PL" sz="2000" b="1" dirty="0">
                <a:ea typeface="+mn-lt"/>
                <a:cs typeface="+mn-lt"/>
              </a:rPr>
              <a:t> 1980</a:t>
            </a:r>
            <a:r>
              <a:rPr lang="pl-PL" sz="2000" dirty="0">
                <a:ea typeface="+mn-lt"/>
                <a:cs typeface="+mn-lt"/>
              </a:rPr>
              <a:t> roku powstała firma </a:t>
            </a:r>
            <a:r>
              <a:rPr lang="pl-PL" sz="2000" i="1" dirty="0" err="1">
                <a:ea typeface="+mn-lt"/>
                <a:cs typeface="+mn-lt"/>
              </a:rPr>
              <a:t>Relational</a:t>
            </a:r>
            <a:r>
              <a:rPr lang="pl-PL" sz="2000" i="1" dirty="0">
                <a:ea typeface="+mn-lt"/>
                <a:cs typeface="+mn-lt"/>
              </a:rPr>
              <a:t> Database Systems (RDS), która opracowała system </a:t>
            </a:r>
            <a:r>
              <a:rPr lang="pl-PL" sz="2000" i="1" dirty="0" err="1">
                <a:ea typeface="+mn-lt"/>
                <a:cs typeface="+mn-lt"/>
              </a:rPr>
              <a:t>Informix</a:t>
            </a:r>
            <a:r>
              <a:rPr lang="pl-PL" sz="2000" i="1" dirty="0">
                <a:ea typeface="+mn-lt"/>
                <a:cs typeface="+mn-lt"/>
              </a:rPr>
              <a:t>.</a:t>
            </a:r>
            <a:endParaRPr lang="pl-PL" sz="2000" dirty="0" err="1"/>
          </a:p>
          <a:p>
            <a:pPr marL="0" indent="0">
              <a:buNone/>
            </a:pPr>
            <a:r>
              <a:rPr lang="pl-PL" sz="2000" dirty="0">
                <a:solidFill>
                  <a:srgbClr val="404040"/>
                </a:solidFill>
                <a:latin typeface="Century Gothic"/>
                <a:ea typeface="+mn-lt"/>
                <a:cs typeface="+mn-lt"/>
              </a:rPr>
              <a:t>W </a:t>
            </a:r>
            <a:r>
              <a:rPr lang="pl-PL" sz="2000" b="1" dirty="0">
                <a:ea typeface="+mn-lt"/>
                <a:cs typeface="+mn-lt"/>
              </a:rPr>
              <a:t>1986</a:t>
            </a:r>
            <a:r>
              <a:rPr lang="pl-PL" sz="2000" dirty="0">
                <a:ea typeface="+mn-lt"/>
                <a:cs typeface="+mn-lt"/>
              </a:rPr>
              <a:t> roku firma zmienia nazwę na </a:t>
            </a:r>
            <a:r>
              <a:rPr lang="pl-PL" sz="2000" i="1" dirty="0" err="1">
                <a:ea typeface="+mn-lt"/>
                <a:cs typeface="+mn-lt"/>
              </a:rPr>
              <a:t>Informix</a:t>
            </a:r>
            <a:r>
              <a:rPr lang="pl-PL" sz="2000" i="1" dirty="0">
                <a:ea typeface="+mn-lt"/>
                <a:cs typeface="+mn-lt"/>
              </a:rPr>
              <a:t> Software.</a:t>
            </a:r>
            <a:endParaRPr lang="pl-PL" sz="2000" dirty="0"/>
          </a:p>
          <a:p>
            <a:pPr marL="0" indent="0">
              <a:buNone/>
            </a:pPr>
            <a:r>
              <a:rPr lang="pl-PL" sz="2000" dirty="0">
                <a:ea typeface="+mn-lt"/>
                <a:cs typeface="+mn-lt"/>
              </a:rPr>
              <a:t>W </a:t>
            </a:r>
            <a:r>
              <a:rPr lang="pl-PL" sz="2000" b="1" dirty="0">
                <a:ea typeface="+mn-lt"/>
                <a:cs typeface="+mn-lt"/>
              </a:rPr>
              <a:t>2001</a:t>
            </a:r>
            <a:r>
              <a:rPr lang="pl-PL" sz="2000" dirty="0">
                <a:ea typeface="+mn-lt"/>
                <a:cs typeface="+mn-lt"/>
              </a:rPr>
              <a:t> roku </a:t>
            </a:r>
            <a:r>
              <a:rPr lang="pl-PL" sz="2000" b="1" dirty="0">
                <a:ea typeface="+mn-lt"/>
                <a:cs typeface="+mn-lt"/>
              </a:rPr>
              <a:t>IBM </a:t>
            </a:r>
            <a:r>
              <a:rPr lang="pl-PL" sz="2000" dirty="0">
                <a:ea typeface="+mn-lt"/>
                <a:cs typeface="+mn-lt"/>
              </a:rPr>
              <a:t>nabywa system </a:t>
            </a:r>
            <a:r>
              <a:rPr lang="pl-PL" sz="2000" dirty="0" err="1">
                <a:ea typeface="+mn-lt"/>
                <a:cs typeface="+mn-lt"/>
              </a:rPr>
              <a:t>Informix</a:t>
            </a:r>
            <a:r>
              <a:rPr lang="pl-PL" sz="2000" dirty="0">
                <a:ea typeface="+mn-lt"/>
                <a:cs typeface="+mn-lt"/>
              </a:rPr>
              <a:t> od firmy </a:t>
            </a:r>
            <a:r>
              <a:rPr lang="pl-PL" sz="2000" dirty="0" err="1">
                <a:ea typeface="+mn-lt"/>
                <a:cs typeface="+mn-lt"/>
              </a:rPr>
              <a:t>Informix</a:t>
            </a:r>
            <a:r>
              <a:rPr lang="pl-PL" sz="2000" dirty="0">
                <a:ea typeface="+mn-lt"/>
                <a:cs typeface="+mn-lt"/>
              </a:rPr>
              <a:t> Software.</a:t>
            </a:r>
            <a:endParaRPr lang="pl-PL" sz="2000" dirty="0"/>
          </a:p>
          <a:p>
            <a:pPr marL="0" indent="0">
              <a:buNone/>
            </a:pPr>
            <a:r>
              <a:rPr lang="pl-PL" sz="2000" dirty="0">
                <a:ea typeface="+mn-lt"/>
                <a:cs typeface="+mn-lt"/>
              </a:rPr>
              <a:t>Po przejęciu przez IBM Informix był aktywnie rozwijany i integrowany z innymi platformami IBM, pozostając jednocześnie produktem o własnej unikalnej architekturze i funkcjach.</a:t>
            </a:r>
            <a:endParaRPr lang="pl-PL" sz="2000" b="1" dirty="0">
              <a:ea typeface="+mn-lt"/>
              <a:cs typeface="+mn-lt"/>
            </a:endParaRPr>
          </a:p>
          <a:p>
            <a:endParaRPr lang="pl-PL" sz="2400" b="1" dirty="0"/>
          </a:p>
          <a:p>
            <a:endParaRPr lang="pl-PL" sz="2400" dirty="0"/>
          </a:p>
          <a:p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382746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154954" y="830103"/>
            <a:ext cx="8827673" cy="883659"/>
          </a:xfrm>
        </p:spPr>
        <p:txBody>
          <a:bodyPr/>
          <a:lstStyle/>
          <a:p>
            <a:pPr algn="ctr"/>
            <a:r>
              <a:rPr lang="pl-PL" b="1" dirty="0" err="1">
                <a:ea typeface="+mj-lt"/>
                <a:cs typeface="+mj-lt"/>
              </a:rPr>
              <a:t>Informix</a:t>
            </a:r>
            <a:r>
              <a:rPr lang="pl-PL" b="1" dirty="0">
                <a:ea typeface="+mj-lt"/>
                <a:cs typeface="+mj-lt"/>
              </a:rPr>
              <a:t> jako element </a:t>
            </a:r>
            <a:br>
              <a:rPr lang="pl-PL" b="1" dirty="0">
                <a:ea typeface="+mj-lt"/>
                <a:cs typeface="+mj-lt"/>
              </a:rPr>
            </a:br>
            <a:r>
              <a:rPr lang="pl-PL" b="1">
                <a:ea typeface="+mj-lt"/>
                <a:cs typeface="+mj-lt"/>
              </a:rPr>
              <a:t>Zintegrowanego </a:t>
            </a:r>
            <a:r>
              <a:rPr lang="pl-PL" b="1" dirty="0">
                <a:ea typeface="+mj-lt"/>
                <a:cs typeface="+mj-lt"/>
              </a:rPr>
              <a:t>Systemu Zarządzania</a:t>
            </a:r>
            <a:endParaRPr lang="pl-PL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154954" y="2603500"/>
            <a:ext cx="9510353" cy="34163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l-PL" sz="2000" dirty="0">
                <a:ea typeface="+mn-lt"/>
                <a:cs typeface="+mn-lt"/>
              </a:rPr>
              <a:t>W środowisku ZSZ </a:t>
            </a:r>
            <a:r>
              <a:rPr lang="pl-PL" sz="2000" b="1" dirty="0" err="1">
                <a:ea typeface="+mn-lt"/>
                <a:cs typeface="+mn-lt"/>
              </a:rPr>
              <a:t>Informix</a:t>
            </a:r>
            <a:r>
              <a:rPr lang="pl-PL" sz="2000" b="1" dirty="0">
                <a:ea typeface="+mn-lt"/>
                <a:cs typeface="+mn-lt"/>
              </a:rPr>
              <a:t> </a:t>
            </a:r>
            <a:r>
              <a:rPr lang="pl-PL" sz="2000" dirty="0">
                <a:ea typeface="+mn-lt"/>
                <a:cs typeface="+mn-lt"/>
              </a:rPr>
              <a:t>pełni funkcję</a:t>
            </a:r>
            <a:r>
              <a:rPr lang="pl-PL" sz="2000" b="1" dirty="0">
                <a:ea typeface="+mn-lt"/>
                <a:cs typeface="+mn-lt"/>
              </a:rPr>
              <a:t> centralnej platformy danych</a:t>
            </a:r>
            <a:r>
              <a:rPr lang="pl-PL" sz="2000" dirty="0">
                <a:ea typeface="+mn-lt"/>
                <a:cs typeface="+mn-lt"/>
              </a:rPr>
              <a:t>.</a:t>
            </a:r>
            <a:endParaRPr lang="pl-PL" sz="2000" dirty="0"/>
          </a:p>
          <a:p>
            <a:pPr marL="0" indent="0">
              <a:buNone/>
            </a:pPr>
            <a:r>
              <a:rPr lang="pl-PL" sz="2000" dirty="0"/>
              <a:t>Główne role </a:t>
            </a:r>
            <a:r>
              <a:rPr lang="pl-PL" sz="2000" err="1"/>
              <a:t>Informixa</a:t>
            </a:r>
            <a:r>
              <a:rPr lang="pl-PL" sz="2000" dirty="0"/>
              <a:t> w ZSZ to:</a:t>
            </a:r>
          </a:p>
          <a:p>
            <a:r>
              <a:rPr lang="pl-PL" sz="2000" b="1" dirty="0">
                <a:ea typeface="+mn-lt"/>
                <a:cs typeface="+mn-lt"/>
              </a:rPr>
              <a:t>gromadzenie i integracja danych</a:t>
            </a:r>
            <a:r>
              <a:rPr lang="pl-PL" sz="2000" dirty="0">
                <a:ea typeface="+mn-lt"/>
                <a:cs typeface="+mn-lt"/>
              </a:rPr>
              <a:t> z wielu systemów (ERP, CRM, SCM),</a:t>
            </a:r>
            <a:endParaRPr lang="pl-PL" sz="2000" dirty="0"/>
          </a:p>
          <a:p>
            <a:r>
              <a:rPr lang="pl-PL" sz="2000" b="1" dirty="0">
                <a:ea typeface="+mn-lt"/>
                <a:cs typeface="+mn-lt"/>
              </a:rPr>
              <a:t>wsparcie dla aplikacji biznesowych</a:t>
            </a:r>
            <a:r>
              <a:rPr lang="pl-PL" sz="2000" dirty="0">
                <a:ea typeface="+mn-lt"/>
                <a:cs typeface="+mn-lt"/>
              </a:rPr>
              <a:t> działających w czasie rzeczywistym,</a:t>
            </a:r>
            <a:endParaRPr lang="pl-PL" sz="2000" dirty="0"/>
          </a:p>
          <a:p>
            <a:r>
              <a:rPr lang="pl-PL" sz="2000" b="1" dirty="0">
                <a:ea typeface="+mn-lt"/>
                <a:cs typeface="+mn-lt"/>
              </a:rPr>
              <a:t>zapewnienie ciągłości operacji</a:t>
            </a:r>
            <a:r>
              <a:rPr lang="pl-PL" sz="2000" dirty="0">
                <a:ea typeface="+mn-lt"/>
                <a:cs typeface="+mn-lt"/>
              </a:rPr>
              <a:t> w całej organizacji,</a:t>
            </a:r>
            <a:endParaRPr lang="pl-PL" sz="2000" dirty="0"/>
          </a:p>
          <a:p>
            <a:r>
              <a:rPr lang="pl-PL" sz="2000" b="1" dirty="0">
                <a:ea typeface="+mn-lt"/>
                <a:cs typeface="+mn-lt"/>
              </a:rPr>
              <a:t>obsługa transakcji krytycznych</a:t>
            </a:r>
            <a:r>
              <a:rPr lang="pl-PL" sz="2000" dirty="0">
                <a:ea typeface="+mn-lt"/>
                <a:cs typeface="+mn-lt"/>
              </a:rPr>
              <a:t> dla biznesu.</a:t>
            </a:r>
          </a:p>
          <a:p>
            <a:pPr marL="0" indent="0">
              <a:buNone/>
            </a:pPr>
            <a:r>
              <a:rPr lang="pl-PL" sz="2000" dirty="0">
                <a:ea typeface="+mn-lt"/>
                <a:cs typeface="+mn-lt"/>
              </a:rPr>
              <a:t>Dzięki swojej niezawodności </a:t>
            </a:r>
            <a:r>
              <a:rPr lang="pl-PL" sz="2000" err="1">
                <a:ea typeface="+mn-lt"/>
                <a:cs typeface="+mn-lt"/>
              </a:rPr>
              <a:t>Informix</a:t>
            </a:r>
            <a:r>
              <a:rPr lang="pl-PL" sz="2000" dirty="0">
                <a:ea typeface="+mn-lt"/>
                <a:cs typeface="+mn-lt"/>
              </a:rPr>
              <a:t> często służy jako fundament systemów wymagających nieprzerwanej pracy.</a:t>
            </a:r>
          </a:p>
          <a:p>
            <a:endParaRPr lang="pl-PL" b="1" dirty="0"/>
          </a:p>
        </p:txBody>
      </p:sp>
    </p:spTree>
    <p:extLst>
      <p:ext uri="{BB962C8B-B14F-4D97-AF65-F5344CB8AC3E}">
        <p14:creationId xmlns:p14="http://schemas.microsoft.com/office/powerpoint/2010/main" val="3536496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154954" y="1117233"/>
            <a:ext cx="8827673" cy="596529"/>
          </a:xfrm>
        </p:spPr>
        <p:txBody>
          <a:bodyPr/>
          <a:lstStyle/>
          <a:p>
            <a:pPr algn="ctr"/>
            <a:r>
              <a:rPr lang="pl-PL" b="1" dirty="0">
                <a:ea typeface="+mj-lt"/>
                <a:cs typeface="+mj-lt"/>
              </a:rPr>
              <a:t>Kluczowe cechy </a:t>
            </a:r>
            <a:r>
              <a:rPr lang="pl-PL" b="1" dirty="0" err="1">
                <a:ea typeface="+mj-lt"/>
                <a:cs typeface="+mj-lt"/>
              </a:rPr>
              <a:t>Informixa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34694" y="2515152"/>
            <a:ext cx="10327571" cy="375864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l-PL" sz="2000" dirty="0" err="1">
                <a:ea typeface="+mn-lt"/>
                <a:cs typeface="+mn-lt"/>
              </a:rPr>
              <a:t>Informix</a:t>
            </a:r>
            <a:r>
              <a:rPr lang="pl-PL" sz="2000" dirty="0">
                <a:ea typeface="+mn-lt"/>
                <a:cs typeface="+mn-lt"/>
              </a:rPr>
              <a:t> wyróżnia się wieloma funkcjami, które czynią go idealnym systemem do zintegrowanego zarządzania danymi:</a:t>
            </a:r>
            <a:endParaRPr lang="pl-PL" sz="2000" dirty="0"/>
          </a:p>
          <a:p>
            <a:r>
              <a:rPr lang="pl-PL" sz="2000" b="1" dirty="0">
                <a:ea typeface="+mn-lt"/>
                <a:cs typeface="+mn-lt"/>
              </a:rPr>
              <a:t>wysoka wydajność i skalowalność</a:t>
            </a:r>
            <a:r>
              <a:rPr lang="pl-PL" sz="2000" dirty="0">
                <a:ea typeface="+mn-lt"/>
                <a:cs typeface="+mn-lt"/>
              </a:rPr>
              <a:t> do obsługi olbrzymich zbiorów danych,</a:t>
            </a:r>
            <a:endParaRPr lang="pl-PL" sz="2000" dirty="0"/>
          </a:p>
          <a:p>
            <a:r>
              <a:rPr lang="pl-PL" sz="2000" b="1" dirty="0">
                <a:ea typeface="+mn-lt"/>
                <a:cs typeface="+mn-lt"/>
              </a:rPr>
              <a:t>zawansowane mechanizmy transakcyjne</a:t>
            </a:r>
            <a:r>
              <a:rPr lang="pl-PL" sz="2000" dirty="0">
                <a:ea typeface="+mn-lt"/>
                <a:cs typeface="+mn-lt"/>
              </a:rPr>
              <a:t> i spójność danych ACID,</a:t>
            </a:r>
            <a:endParaRPr lang="pl-PL" sz="2000" dirty="0"/>
          </a:p>
          <a:p>
            <a:r>
              <a:rPr lang="pl-PL" sz="2000" b="1" dirty="0">
                <a:ea typeface="+mn-lt"/>
                <a:cs typeface="+mn-lt"/>
              </a:rPr>
              <a:t>obsługa różnych typów danych</a:t>
            </a:r>
            <a:r>
              <a:rPr lang="pl-PL" sz="2000" dirty="0">
                <a:ea typeface="+mn-lt"/>
                <a:cs typeface="+mn-lt"/>
              </a:rPr>
              <a:t>: relacyjnych, JSON, przestrzennych,</a:t>
            </a:r>
            <a:endParaRPr lang="pl-PL" sz="2000" dirty="0"/>
          </a:p>
          <a:p>
            <a:r>
              <a:rPr lang="pl-PL" sz="2000" b="1" dirty="0">
                <a:ea typeface="+mn-lt"/>
                <a:cs typeface="+mn-lt"/>
              </a:rPr>
              <a:t>automatyczne zarządzanie pamięcią</a:t>
            </a:r>
            <a:r>
              <a:rPr lang="pl-PL" sz="2000" dirty="0">
                <a:ea typeface="+mn-lt"/>
                <a:cs typeface="+mn-lt"/>
              </a:rPr>
              <a:t> i inteligentna optymalizacja zapytań,</a:t>
            </a:r>
            <a:endParaRPr lang="pl-PL" sz="2000" dirty="0"/>
          </a:p>
          <a:p>
            <a:r>
              <a:rPr lang="pl-PL" sz="2000" b="1" dirty="0">
                <a:ea typeface="+mn-lt"/>
                <a:cs typeface="+mn-lt"/>
              </a:rPr>
              <a:t>mechanizmy wysokiej dostępności</a:t>
            </a:r>
            <a:r>
              <a:rPr lang="pl-PL" sz="2000" dirty="0">
                <a:ea typeface="+mn-lt"/>
                <a:cs typeface="+mn-lt"/>
              </a:rPr>
              <a:t> i zaawansowane odtwarzanie po awarii,</a:t>
            </a:r>
            <a:endParaRPr lang="pl-PL" sz="2000" dirty="0"/>
          </a:p>
          <a:p>
            <a:r>
              <a:rPr lang="pl-PL" sz="2000" b="1" dirty="0">
                <a:ea typeface="+mn-lt"/>
                <a:cs typeface="+mn-lt"/>
              </a:rPr>
              <a:t>fragmentacja danych</a:t>
            </a:r>
            <a:r>
              <a:rPr lang="pl-PL" sz="2000" dirty="0">
                <a:ea typeface="+mn-lt"/>
                <a:cs typeface="+mn-lt"/>
              </a:rPr>
              <a:t> dla szybszego dostępu i lepszego skalowania,</a:t>
            </a:r>
            <a:endParaRPr lang="pl-PL" sz="2000" dirty="0"/>
          </a:p>
          <a:p>
            <a:r>
              <a:rPr lang="pl-PL" sz="2000" b="1" dirty="0">
                <a:ea typeface="+mn-lt"/>
                <a:cs typeface="+mn-lt"/>
              </a:rPr>
              <a:t>integracja z chmurą</a:t>
            </a:r>
            <a:r>
              <a:rPr lang="pl-PL" sz="2000" dirty="0">
                <a:ea typeface="+mn-lt"/>
                <a:cs typeface="+mn-lt"/>
              </a:rPr>
              <a:t> i wdrażanie w kontenerach (Docker, </a:t>
            </a:r>
            <a:r>
              <a:rPr lang="pl-PL" sz="2000" dirty="0" err="1">
                <a:ea typeface="+mn-lt"/>
                <a:cs typeface="+mn-lt"/>
              </a:rPr>
              <a:t>Kubernetes</a:t>
            </a:r>
            <a:r>
              <a:rPr lang="pl-PL" sz="2000" dirty="0">
                <a:ea typeface="+mn-lt"/>
                <a:cs typeface="+mn-lt"/>
              </a:rPr>
              <a:t>).</a:t>
            </a:r>
            <a:endParaRPr lang="pl-PL" sz="2000" dirty="0"/>
          </a:p>
          <a:p>
            <a:endParaRPr lang="pl-PL" sz="2000" b="1" dirty="0"/>
          </a:p>
          <a:p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3239106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>
                <a:ea typeface="+mj-lt"/>
                <a:cs typeface="+mj-lt"/>
              </a:rPr>
              <a:t>Zastosowania </a:t>
            </a:r>
            <a:r>
              <a:rPr lang="pl-PL" b="1" dirty="0" err="1">
                <a:ea typeface="+mj-lt"/>
                <a:cs typeface="+mj-lt"/>
              </a:rPr>
              <a:t>Informixa</a:t>
            </a:r>
            <a:endParaRPr lang="pl-PL" b="1" dirty="0" err="1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154954" y="2603500"/>
            <a:ext cx="9952093" cy="34163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l-PL" sz="2000" dirty="0" err="1">
                <a:ea typeface="+mn-lt"/>
                <a:cs typeface="+mn-lt"/>
              </a:rPr>
              <a:t>Informix</a:t>
            </a:r>
            <a:r>
              <a:rPr lang="pl-PL" sz="2000" dirty="0">
                <a:ea typeface="+mn-lt"/>
                <a:cs typeface="+mn-lt"/>
              </a:rPr>
              <a:t> jest wykorzystywany w wielu branżach:</a:t>
            </a:r>
            <a:endParaRPr lang="pl-PL" sz="2000"/>
          </a:p>
          <a:p>
            <a:r>
              <a:rPr lang="pl-PL" sz="2000" b="1" dirty="0">
                <a:ea typeface="+mn-lt"/>
                <a:cs typeface="+mn-lt"/>
              </a:rPr>
              <a:t>finanse i bankowość:</a:t>
            </a:r>
            <a:r>
              <a:rPr lang="pl-PL" sz="2000" dirty="0">
                <a:ea typeface="+mn-lt"/>
                <a:cs typeface="+mn-lt"/>
              </a:rPr>
              <a:t> systemy transakcyjne, analityka finansowa,</a:t>
            </a:r>
            <a:endParaRPr lang="pl-PL" sz="2000"/>
          </a:p>
          <a:p>
            <a:r>
              <a:rPr lang="pl-PL" sz="2000" b="1" dirty="0">
                <a:ea typeface="+mn-lt"/>
                <a:cs typeface="+mn-lt"/>
              </a:rPr>
              <a:t>handel detaliczny:</a:t>
            </a:r>
            <a:r>
              <a:rPr lang="pl-PL" sz="2000" dirty="0">
                <a:ea typeface="+mn-lt"/>
                <a:cs typeface="+mn-lt"/>
              </a:rPr>
              <a:t> zarządzanie zapasami, analizy zakupowe,</a:t>
            </a:r>
            <a:endParaRPr lang="pl-PL" sz="2000"/>
          </a:p>
          <a:p>
            <a:r>
              <a:rPr lang="pl-PL" sz="2000" b="1" dirty="0">
                <a:ea typeface="+mn-lt"/>
                <a:cs typeface="+mn-lt"/>
              </a:rPr>
              <a:t>telekomunikacja:</a:t>
            </a:r>
            <a:r>
              <a:rPr lang="pl-PL" sz="2000" dirty="0">
                <a:ea typeface="+mn-lt"/>
                <a:cs typeface="+mn-lt"/>
              </a:rPr>
              <a:t> przetwarzanie danych bilingowych, monitorowanie sieci,</a:t>
            </a:r>
          </a:p>
          <a:p>
            <a:r>
              <a:rPr lang="pl-PL" sz="2000" b="1" dirty="0">
                <a:ea typeface="+mn-lt"/>
                <a:cs typeface="+mn-lt"/>
              </a:rPr>
              <a:t>opieka zdrowotna:</a:t>
            </a:r>
            <a:r>
              <a:rPr lang="pl-PL" sz="2000" dirty="0">
                <a:ea typeface="+mn-lt"/>
                <a:cs typeface="+mn-lt"/>
              </a:rPr>
              <a:t> przechowywanie danych pacjentów, analiza medyczna,</a:t>
            </a:r>
            <a:endParaRPr lang="pl-PL" sz="2000"/>
          </a:p>
          <a:p>
            <a:r>
              <a:rPr lang="pl-PL" sz="2000" b="1" dirty="0">
                <a:ea typeface="+mn-lt"/>
                <a:cs typeface="+mn-lt"/>
              </a:rPr>
              <a:t>produkcja:</a:t>
            </a:r>
            <a:r>
              <a:rPr lang="pl-PL" sz="2000" dirty="0">
                <a:ea typeface="+mn-lt"/>
                <a:cs typeface="+mn-lt"/>
              </a:rPr>
              <a:t> systemy MES, SCADA, zarządzanie łańcuchem dostaw,</a:t>
            </a:r>
            <a:endParaRPr lang="pl-PL" sz="2000"/>
          </a:p>
          <a:p>
            <a:r>
              <a:rPr lang="pl-PL" sz="2000" b="1" dirty="0">
                <a:ea typeface="+mn-lt"/>
                <a:cs typeface="+mn-lt"/>
              </a:rPr>
              <a:t>administracja publiczna:</a:t>
            </a:r>
            <a:r>
              <a:rPr lang="pl-PL" sz="2000" dirty="0">
                <a:ea typeface="+mn-lt"/>
                <a:cs typeface="+mn-lt"/>
              </a:rPr>
              <a:t> duże rejestry państwowe i systemy e-usług.</a:t>
            </a:r>
            <a:endParaRPr lang="pl-PL" sz="2000" dirty="0"/>
          </a:p>
          <a:p>
            <a:endParaRPr lang="pl-PL" b="1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44887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4000" b="1" dirty="0">
                <a:ea typeface="+mj-lt"/>
                <a:cs typeface="+mj-lt"/>
              </a:rPr>
              <a:t>Zalety </a:t>
            </a:r>
            <a:r>
              <a:rPr lang="pl-PL" sz="4000" b="1" dirty="0" err="1">
                <a:ea typeface="+mj-lt"/>
                <a:cs typeface="+mj-lt"/>
              </a:rPr>
              <a:t>Informixa</a:t>
            </a:r>
            <a:endParaRPr lang="pl-PL" b="1" dirty="0" err="1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154954" y="2603500"/>
            <a:ext cx="9918962" cy="34163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l-PL" sz="2000" dirty="0">
                <a:ea typeface="+mn-lt"/>
                <a:cs typeface="+mn-lt"/>
              </a:rPr>
              <a:t>Wybór </a:t>
            </a:r>
            <a:r>
              <a:rPr lang="pl-PL" sz="2000" dirty="0" err="1">
                <a:ea typeface="+mn-lt"/>
                <a:cs typeface="+mn-lt"/>
              </a:rPr>
              <a:t>Informixa</a:t>
            </a:r>
            <a:r>
              <a:rPr lang="pl-PL" sz="2000" dirty="0">
                <a:ea typeface="+mn-lt"/>
                <a:cs typeface="+mn-lt"/>
              </a:rPr>
              <a:t> przynosi organizacji wiele korzyści:</a:t>
            </a:r>
            <a:endParaRPr lang="pl-PL" sz="2000"/>
          </a:p>
          <a:p>
            <a:r>
              <a:rPr lang="pl-PL" sz="2000" b="1" dirty="0">
                <a:ea typeface="+mn-lt"/>
                <a:cs typeface="+mn-lt"/>
              </a:rPr>
              <a:t>wysoka wydajność i niezawodność</a:t>
            </a:r>
            <a:r>
              <a:rPr lang="pl-PL" sz="2000" dirty="0">
                <a:ea typeface="+mn-lt"/>
                <a:cs typeface="+mn-lt"/>
              </a:rPr>
              <a:t>, czyli krótszy czas przetwarzania danych oraz minimalne przestoje,</a:t>
            </a:r>
            <a:endParaRPr lang="pl-PL" sz="2000"/>
          </a:p>
          <a:p>
            <a:r>
              <a:rPr lang="pl-PL" sz="2000" b="1" dirty="0">
                <a:ea typeface="+mn-lt"/>
                <a:cs typeface="+mn-lt"/>
              </a:rPr>
              <a:t>niższe koszty utrzymania</a:t>
            </a:r>
            <a:r>
              <a:rPr lang="pl-PL" sz="2000" dirty="0">
                <a:ea typeface="+mn-lt"/>
                <a:cs typeface="+mn-lt"/>
              </a:rPr>
              <a:t> dzięki automatyzacji i funkcjom </a:t>
            </a:r>
            <a:r>
              <a:rPr lang="pl-PL" sz="2000" err="1">
                <a:ea typeface="+mn-lt"/>
                <a:cs typeface="+mn-lt"/>
              </a:rPr>
              <a:t>samooptymalizacji</a:t>
            </a:r>
            <a:r>
              <a:rPr lang="pl-PL" sz="2000" dirty="0">
                <a:ea typeface="+mn-lt"/>
                <a:cs typeface="+mn-lt"/>
              </a:rPr>
              <a:t>,</a:t>
            </a:r>
            <a:endParaRPr lang="pl-PL" sz="2000"/>
          </a:p>
          <a:p>
            <a:r>
              <a:rPr lang="pl-PL" sz="2000" b="1" dirty="0">
                <a:ea typeface="+mn-lt"/>
                <a:cs typeface="+mn-lt"/>
              </a:rPr>
              <a:t>elastyczność</a:t>
            </a:r>
            <a:r>
              <a:rPr lang="pl-PL" sz="2000" dirty="0">
                <a:ea typeface="+mn-lt"/>
                <a:cs typeface="+mn-lt"/>
              </a:rPr>
              <a:t>, czyli obsługa wielu formatów danych i różnorodnych aplikacji,</a:t>
            </a:r>
            <a:endParaRPr lang="pl-PL" sz="2000"/>
          </a:p>
          <a:p>
            <a:r>
              <a:rPr lang="pl-PL" sz="2000" b="1" dirty="0">
                <a:ea typeface="+mn-lt"/>
                <a:cs typeface="+mn-lt"/>
              </a:rPr>
              <a:t>integracja z technologiami IBM,</a:t>
            </a:r>
            <a:endParaRPr lang="pl-PL" sz="2000"/>
          </a:p>
          <a:p>
            <a:r>
              <a:rPr lang="pl-PL" sz="2000" b="1" dirty="0">
                <a:ea typeface="+mn-lt"/>
                <a:cs typeface="+mn-lt"/>
              </a:rPr>
              <a:t>skalowalność</a:t>
            </a:r>
            <a:r>
              <a:rPr lang="pl-PL" sz="2000" dirty="0">
                <a:ea typeface="+mn-lt"/>
                <a:cs typeface="+mn-lt"/>
              </a:rPr>
              <a:t>, która zapewnia rozwój systemu wraz z organizacją,</a:t>
            </a:r>
            <a:endParaRPr lang="pl-PL" sz="2000"/>
          </a:p>
          <a:p>
            <a:r>
              <a:rPr lang="pl-PL" sz="2000" b="1" dirty="0">
                <a:ea typeface="+mn-lt"/>
                <a:cs typeface="+mn-lt"/>
              </a:rPr>
              <a:t>zaawansowane bezpieczeństwo</a:t>
            </a:r>
            <a:r>
              <a:rPr lang="pl-PL" sz="2000" dirty="0">
                <a:ea typeface="+mn-lt"/>
                <a:cs typeface="+mn-lt"/>
              </a:rPr>
              <a:t>,  np. szyfrowanie, kontrola dostępu, audyty.</a:t>
            </a:r>
            <a:endParaRPr lang="pl-PL" sz="2000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43625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b="1" dirty="0">
                <a:ea typeface="+mj-lt"/>
                <a:cs typeface="+mj-lt"/>
              </a:rPr>
              <a:t>Ograniczenia </a:t>
            </a:r>
            <a:r>
              <a:rPr lang="pl-PL" b="1" err="1">
                <a:ea typeface="+mj-lt"/>
                <a:cs typeface="+mj-lt"/>
              </a:rPr>
              <a:t>Informixa</a:t>
            </a:r>
            <a:endParaRPr lang="pl-PL" b="1" err="1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154954" y="2603500"/>
            <a:ext cx="9620789" cy="3416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 sz="2000" dirty="0">
                <a:ea typeface="+mn-lt"/>
                <a:cs typeface="+mn-lt"/>
              </a:rPr>
              <a:t>Mimo wielu zalet </a:t>
            </a:r>
            <a:r>
              <a:rPr lang="pl-PL" sz="2000" dirty="0" err="1">
                <a:ea typeface="+mn-lt"/>
                <a:cs typeface="+mn-lt"/>
              </a:rPr>
              <a:t>Informix</a:t>
            </a:r>
            <a:r>
              <a:rPr lang="pl-PL" sz="2000" dirty="0">
                <a:ea typeface="+mn-lt"/>
                <a:cs typeface="+mn-lt"/>
              </a:rPr>
              <a:t> posiada także pewne ograniczenia:</a:t>
            </a:r>
            <a:endParaRPr lang="pl-PL" sz="2000" dirty="0"/>
          </a:p>
          <a:p>
            <a:r>
              <a:rPr lang="pl-PL" sz="2000" b="1" dirty="0">
                <a:ea typeface="+mn-lt"/>
                <a:cs typeface="+mn-lt"/>
              </a:rPr>
              <a:t>koszty licencji i wdrożenia</a:t>
            </a:r>
            <a:r>
              <a:rPr lang="pl-PL" sz="2000" dirty="0">
                <a:ea typeface="+mn-lt"/>
                <a:cs typeface="+mn-lt"/>
              </a:rPr>
              <a:t> mogą być wysokie dla mniejszych firm,</a:t>
            </a:r>
            <a:endParaRPr lang="pl-PL" sz="2000" dirty="0"/>
          </a:p>
          <a:p>
            <a:r>
              <a:rPr lang="pl-PL" sz="2000" b="1" dirty="0">
                <a:ea typeface="+mn-lt"/>
                <a:cs typeface="+mn-lt"/>
              </a:rPr>
              <a:t>wymagane kompetencje specjalistyczne</a:t>
            </a:r>
            <a:r>
              <a:rPr lang="pl-PL" sz="2000" dirty="0">
                <a:ea typeface="+mn-lt"/>
                <a:cs typeface="+mn-lt"/>
              </a:rPr>
              <a:t> do administracji i optymalizacji,</a:t>
            </a:r>
            <a:endParaRPr lang="pl-PL" sz="2000" dirty="0"/>
          </a:p>
          <a:p>
            <a:r>
              <a:rPr lang="pl-PL" sz="2000" b="1" dirty="0">
                <a:ea typeface="+mn-lt"/>
                <a:cs typeface="+mn-lt"/>
              </a:rPr>
              <a:t>silna konkurencja</a:t>
            </a:r>
            <a:r>
              <a:rPr lang="pl-PL" sz="2000" dirty="0">
                <a:ea typeface="+mn-lt"/>
                <a:cs typeface="+mn-lt"/>
              </a:rPr>
              <a:t> ze strony Oracle, </a:t>
            </a:r>
            <a:r>
              <a:rPr lang="pl-PL" sz="2000" dirty="0" err="1">
                <a:ea typeface="+mn-lt"/>
                <a:cs typeface="+mn-lt"/>
              </a:rPr>
              <a:t>PostgreSQL</a:t>
            </a:r>
            <a:r>
              <a:rPr lang="pl-PL" sz="2000" dirty="0">
                <a:ea typeface="+mn-lt"/>
                <a:cs typeface="+mn-lt"/>
              </a:rPr>
              <a:t> oraz MS SQL Server,</a:t>
            </a:r>
            <a:endParaRPr lang="pl-PL" sz="2000" dirty="0"/>
          </a:p>
          <a:p>
            <a:r>
              <a:rPr lang="pl-PL" sz="2000" b="1" dirty="0">
                <a:ea typeface="+mn-lt"/>
                <a:cs typeface="+mn-lt"/>
              </a:rPr>
              <a:t>potrzeba dostosowania aplikacji</a:t>
            </a:r>
            <a:r>
              <a:rPr lang="pl-PL" sz="2000" dirty="0">
                <a:ea typeface="+mn-lt"/>
                <a:cs typeface="+mn-lt"/>
              </a:rPr>
              <a:t> do architektury </a:t>
            </a:r>
            <a:r>
              <a:rPr lang="pl-PL" sz="2000" dirty="0" err="1">
                <a:ea typeface="+mn-lt"/>
                <a:cs typeface="+mn-lt"/>
              </a:rPr>
              <a:t>Informixa</a:t>
            </a:r>
            <a:r>
              <a:rPr lang="pl-PL" sz="2000" dirty="0">
                <a:ea typeface="+mn-lt"/>
                <a:cs typeface="+mn-lt"/>
              </a:rPr>
              <a:t>,</a:t>
            </a:r>
            <a:endParaRPr lang="pl-PL" sz="2000" dirty="0"/>
          </a:p>
          <a:p>
            <a:r>
              <a:rPr lang="pl-PL" sz="2000" b="1" dirty="0">
                <a:ea typeface="+mn-lt"/>
                <a:cs typeface="+mn-lt"/>
              </a:rPr>
              <a:t>konieczność regularnego szkolenia personelu</a:t>
            </a:r>
            <a:r>
              <a:rPr lang="pl-PL" sz="2000" dirty="0">
                <a:ea typeface="+mn-lt"/>
                <a:cs typeface="+mn-lt"/>
              </a:rPr>
              <a:t>.</a:t>
            </a:r>
            <a:endParaRPr lang="pl-PL" sz="2000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429572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>
                <a:ea typeface="+mj-lt"/>
                <a:cs typeface="+mj-lt"/>
              </a:rPr>
              <a:t>Podsumowanie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 sz="2000" b="1" dirty="0" err="1">
                <a:ea typeface="+mn-lt"/>
                <a:cs typeface="+mn-lt"/>
              </a:rPr>
              <a:t>Informix</a:t>
            </a:r>
            <a:r>
              <a:rPr lang="pl-PL" sz="2000" b="1" dirty="0">
                <a:ea typeface="+mn-lt"/>
                <a:cs typeface="+mn-lt"/>
              </a:rPr>
              <a:t> </a:t>
            </a:r>
            <a:r>
              <a:rPr lang="pl-PL" sz="2000" dirty="0">
                <a:ea typeface="+mn-lt"/>
                <a:cs typeface="+mn-lt"/>
              </a:rPr>
              <a:t>to potężny, elastyczny i wysoce niezawodny system zarządzania bazami danych, doskonale nadający się jako fundament zintegrowanych systemów zarządzania.</a:t>
            </a:r>
            <a:br>
              <a:rPr lang="pl-PL" sz="2000" dirty="0">
                <a:ea typeface="+mn-lt"/>
                <a:cs typeface="+mn-lt"/>
              </a:rPr>
            </a:br>
            <a:r>
              <a:rPr lang="pl-PL" sz="2000" dirty="0">
                <a:ea typeface="+mn-lt"/>
                <a:cs typeface="+mn-lt"/>
              </a:rPr>
              <a:t>Jego zalety takie jak wydajność, wysoka dostępność, obsługa wielu typów danych i skalowalność sprawiają, że jest idealnym rozwiązaniem dla dużych organizacji oraz aplikacji o krytycznym znaczeniu biznesowym.</a:t>
            </a:r>
            <a:endParaRPr lang="pl-PL" sz="2000"/>
          </a:p>
        </p:txBody>
      </p:sp>
    </p:spTree>
    <p:extLst>
      <p:ext uri="{BB962C8B-B14F-4D97-AF65-F5344CB8AC3E}">
        <p14:creationId xmlns:p14="http://schemas.microsoft.com/office/powerpoint/2010/main" val="1835266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9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</p:sp>
      <p:sp>
        <p:nvSpPr>
          <p:cNvPr id="61" name="Freeform: Shape 13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62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39098" y="574838"/>
            <a:ext cx="5546095" cy="2014206"/>
          </a:xfrm>
        </p:spPr>
        <p:txBody>
          <a:bodyPr>
            <a:normAutofit/>
          </a:bodyPr>
          <a:lstStyle/>
          <a:p>
            <a:pPr algn="ctr"/>
            <a:r>
              <a:rPr lang="pl-PL" sz="4000" dirty="0">
                <a:solidFill>
                  <a:srgbClr val="EBEBEB"/>
                </a:solidFill>
              </a:rPr>
              <a:t>Dziękuję za uwagę!</a:t>
            </a:r>
            <a:endParaRPr lang="pl-PL" sz="4000"/>
          </a:p>
        </p:txBody>
      </p:sp>
      <p:pic>
        <p:nvPicPr>
          <p:cNvPr id="5" name="Obraz 4" descr="Obraz zawierający kreskówka, clipart, uśmieszek, emotikona&#10;&#10;Zawartość wygenerowana przez AI może być niepoprawna.">
            <a:extLst>
              <a:ext uri="{FF2B5EF4-FFF2-40B4-BE49-F238E27FC236}">
                <a16:creationId xmlns:a16="http://schemas.microsoft.com/office/drawing/2014/main" id="{FF41FBD6-E178-9F7E-A529-54108EE75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836" y="948766"/>
            <a:ext cx="4828707" cy="4978048"/>
          </a:xfrm>
          <a:prstGeom prst="rect">
            <a:avLst/>
          </a:prstGeom>
        </p:spPr>
      </p:pic>
      <p:sp>
        <p:nvSpPr>
          <p:cNvPr id="63" name="Rectangle 17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30241" y="1351936"/>
            <a:ext cx="5567869" cy="4878541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l-PL" sz="2800" dirty="0">
                <a:solidFill>
                  <a:srgbClr val="FFFFFF"/>
                </a:solidFill>
              </a:rPr>
              <a:t>Student inżynier</a:t>
            </a:r>
            <a:endParaRPr lang="pl-PL" sz="2800" dirty="0"/>
          </a:p>
          <a:p>
            <a:pPr marL="0" indent="0" algn="ctr">
              <a:buNone/>
            </a:pPr>
            <a:r>
              <a:rPr lang="pl-PL" sz="2800" dirty="0">
                <a:solidFill>
                  <a:srgbClr val="FFFFFF"/>
                </a:solidFill>
              </a:rPr>
              <a:t>Jakub Pisarski</a:t>
            </a:r>
          </a:p>
          <a:p>
            <a:endParaRPr lang="pl-PL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140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Jon (sala konferencyjna)">
  <a:themeElements>
    <a:clrScheme name="Jon (sala konferencyjna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Jon (sala konferencyjna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on (sala konferencyjna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TM02900722[[fn=Jon (konferencyjny)]]</Template>
  <TotalTime>1826</TotalTime>
  <Words>460</Words>
  <Application>Microsoft Office PowerPoint</Application>
  <PresentationFormat>Panoramiczny</PresentationFormat>
  <Paragraphs>65</Paragraphs>
  <Slides>10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1" baseType="lpstr">
      <vt:lpstr>Jon (sala konferencyjna)</vt:lpstr>
      <vt:lpstr>Informix</vt:lpstr>
      <vt:lpstr>Definicja Informixa</vt:lpstr>
      <vt:lpstr>Historia Informixa</vt:lpstr>
      <vt:lpstr>Informix jako element  Zintegrowanego Systemu Zarządzania</vt:lpstr>
      <vt:lpstr>Kluczowe cechy Informixa</vt:lpstr>
      <vt:lpstr>Zastosowania Informixa</vt:lpstr>
      <vt:lpstr>Zalety Informixa</vt:lpstr>
      <vt:lpstr>Ograniczenia Informixa</vt:lpstr>
      <vt:lpstr>Podsumowanie</vt:lpstr>
      <vt:lpstr>Dziękuję za uwagę!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Informix</dc:title>
  <dc:creator>admin</dc:creator>
  <cp:lastModifiedBy>admin</cp:lastModifiedBy>
  <cp:revision>260</cp:revision>
  <dcterms:created xsi:type="dcterms:W3CDTF">2025-11-30T19:05:23Z</dcterms:created>
  <dcterms:modified xsi:type="dcterms:W3CDTF">2025-12-08T03:47:00Z</dcterms:modified>
</cp:coreProperties>
</file>